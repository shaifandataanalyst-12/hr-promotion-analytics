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2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10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9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8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7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0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1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28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5638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46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7134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60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07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7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142" y="1737135"/>
            <a:ext cx="7772400" cy="2028620"/>
          </a:xfrm>
        </p:spPr>
        <p:txBody>
          <a:bodyPr>
            <a:normAutofit/>
          </a:bodyPr>
          <a:lstStyle/>
          <a:p>
            <a:r>
              <a:rPr sz="7200" dirty="0"/>
              <a:t>HR Analytics </a:t>
            </a:r>
            <a:br>
              <a:rPr lang="en-US" dirty="0"/>
            </a:br>
            <a:r>
              <a:rPr lang="en-IN" sz="2400" dirty="0"/>
              <a:t>                                                                             -MOHD.SHAIFAN</a:t>
            </a:r>
            <a:r>
              <a:rPr sz="2400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47568"/>
            <a:ext cx="7704667" cy="3332816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employee performance, training, and KPI data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factors that influence employee promotion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whether an employee will be promoted or not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the organization make faster and data-driven promotion decisions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4C1C-C4DD-2250-E9DA-3CA49853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39E01-3412-CE96-6885-99726F3BD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employee information, like: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department they work in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education and gender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trainings they completed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previous year performance rating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they met KPIs or won awards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training score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6496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535" y="206118"/>
            <a:ext cx="8229600" cy="551272"/>
          </a:xfrm>
        </p:spPr>
        <p:txBody>
          <a:bodyPr>
            <a:noAutofit/>
          </a:bodyPr>
          <a:lstStyle/>
          <a:p>
            <a:pPr algn="l"/>
            <a:r>
              <a:rPr sz="3200" dirty="0"/>
              <a:t>Promotion Rate by Department</a:t>
            </a:r>
          </a:p>
        </p:txBody>
      </p:sp>
      <p:pic>
        <p:nvPicPr>
          <p:cNvPr id="3" name="Picture 2" descr="promo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593" y="825910"/>
            <a:ext cx="6282813" cy="2893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43007D-5A1A-5E41-342F-C8365196B28D}"/>
              </a:ext>
            </a:extLst>
          </p:cNvPr>
          <p:cNvSpPr txBox="1"/>
          <p:nvPr/>
        </p:nvSpPr>
        <p:spPr>
          <a:xfrm>
            <a:off x="1199535" y="3895379"/>
            <a:ext cx="79444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“Technology and Procurement departments show the highest promotion rates, above 9.5%, indicating strong alignment between skills, training outcomes, and promotion criteria.</a:t>
            </a:r>
            <a:br>
              <a:rPr lang="en-US" dirty="0"/>
            </a:br>
            <a:r>
              <a:rPr lang="en-US" dirty="0"/>
              <a:t>On the other hand, HR and Legal have promotion rates close to 5%, suggesting either limited senior role availability or stricter promotion benchmarks.”</a:t>
            </a:r>
          </a:p>
          <a:p>
            <a:pPr>
              <a:buNone/>
            </a:pPr>
            <a:r>
              <a:rPr lang="en-US" b="1" dirty="0"/>
              <a:t>Business 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Replicate training and evaluation practices from high-performing departments.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promotion readiness criteria in low-performing departments.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961" y="250058"/>
            <a:ext cx="8229600" cy="595517"/>
          </a:xfrm>
        </p:spPr>
        <p:txBody>
          <a:bodyPr>
            <a:normAutofit fontScale="90000"/>
          </a:bodyPr>
          <a:lstStyle/>
          <a:p>
            <a:pPr algn="l"/>
            <a:r>
              <a:rPr sz="3600" dirty="0"/>
              <a:t>Promotion Rate by Gender</a:t>
            </a:r>
          </a:p>
        </p:txBody>
      </p:sp>
      <p:pic>
        <p:nvPicPr>
          <p:cNvPr id="3" name="Picture 2" descr="promo_by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257" y="999766"/>
            <a:ext cx="4911213" cy="31807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6E37D7-A6B9-D01C-4DA1-65DCE1639BD5}"/>
              </a:ext>
            </a:extLst>
          </p:cNvPr>
          <p:cNvSpPr txBox="1"/>
          <p:nvPr/>
        </p:nvSpPr>
        <p:spPr>
          <a:xfrm>
            <a:off x="921774" y="4267866"/>
            <a:ext cx="86179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Insight</a:t>
            </a:r>
          </a:p>
          <a:p>
            <a:pPr>
              <a:buNone/>
            </a:pPr>
            <a:r>
              <a:rPr lang="en-US" dirty="0"/>
              <a:t>“Female employees show a slightly higher promotion rate than male employees, with 8.99% versus 8.32%.</a:t>
            </a:r>
            <a:br>
              <a:rPr lang="en-US" dirty="0"/>
            </a:br>
            <a:r>
              <a:rPr lang="en-US" dirty="0"/>
              <a:t>The difference is marginal, indicating that the promotion process is largely gender-neutral.”</a:t>
            </a:r>
          </a:p>
          <a:p>
            <a:pPr>
              <a:buNone/>
            </a:pPr>
            <a:r>
              <a:rPr lang="en-US" b="1" dirty="0"/>
              <a:t>Business 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 current evaluation standards.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Continue monitoring fairness metrics to avoid future bias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781" y="274638"/>
            <a:ext cx="8229600" cy="669259"/>
          </a:xfrm>
        </p:spPr>
        <p:txBody>
          <a:bodyPr>
            <a:noAutofit/>
          </a:bodyPr>
          <a:lstStyle/>
          <a:p>
            <a:pPr algn="l"/>
            <a:r>
              <a:rPr sz="3200" dirty="0"/>
              <a:t>Impact of KPI Completion</a:t>
            </a:r>
          </a:p>
        </p:txBody>
      </p:sp>
      <p:pic>
        <p:nvPicPr>
          <p:cNvPr id="3" name="Picture 2" descr="promo_by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81" y="943897"/>
            <a:ext cx="6002593" cy="29398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571E05-71B6-B5A0-112D-830EF9FF460F}"/>
              </a:ext>
            </a:extLst>
          </p:cNvPr>
          <p:cNvSpPr txBox="1"/>
          <p:nvPr/>
        </p:nvSpPr>
        <p:spPr>
          <a:xfrm>
            <a:off x="924233" y="4041058"/>
            <a:ext cx="77527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Insight :</a:t>
            </a:r>
          </a:p>
          <a:p>
            <a:pPr>
              <a:buNone/>
            </a:pPr>
            <a:r>
              <a:rPr lang="en-US" dirty="0"/>
              <a:t>“Employees who meet KPI targets have a promotion rate of nearly </a:t>
            </a:r>
            <a:r>
              <a:rPr lang="en-US" b="1" dirty="0"/>
              <a:t>17%</a:t>
            </a:r>
            <a:r>
              <a:rPr lang="en-US" dirty="0"/>
              <a:t>, compared to only </a:t>
            </a:r>
            <a:r>
              <a:rPr lang="en-US" b="1" dirty="0"/>
              <a:t>4%</a:t>
            </a:r>
            <a:r>
              <a:rPr lang="en-US" dirty="0"/>
              <a:t> for those who do not.</a:t>
            </a:r>
            <a:br>
              <a:rPr lang="en-US" dirty="0"/>
            </a:br>
            <a:r>
              <a:rPr lang="en-US" dirty="0"/>
              <a:t>This means employees meeting KPIs are </a:t>
            </a:r>
            <a:r>
              <a:rPr lang="en-US" b="1" dirty="0"/>
              <a:t>over 4 times more likely</a:t>
            </a:r>
            <a:r>
              <a:rPr lang="en-US" dirty="0"/>
              <a:t> to be promoted.”</a:t>
            </a:r>
          </a:p>
          <a:p>
            <a:pPr>
              <a:buNone/>
            </a:pPr>
            <a:r>
              <a:rPr lang="en-US" b="1" dirty="0"/>
              <a:t>Business 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KPI completion as a </a:t>
            </a:r>
            <a:r>
              <a:rPr lang="en-US" b="1" dirty="0"/>
              <a:t>mandatory checkpoint filter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Fast-track KPI-compliant employees into promotion preparation programs.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229600" cy="561104"/>
          </a:xfrm>
        </p:spPr>
        <p:txBody>
          <a:bodyPr>
            <a:normAutofit fontScale="90000"/>
          </a:bodyPr>
          <a:lstStyle/>
          <a:p>
            <a:pPr algn="l"/>
            <a:r>
              <a:rPr sz="3600" dirty="0"/>
              <a:t>Training Score Distribution (Promoted</a:t>
            </a:r>
            <a:r>
              <a:rPr dirty="0"/>
              <a:t>)</a:t>
            </a:r>
          </a:p>
        </p:txBody>
      </p:sp>
      <p:pic>
        <p:nvPicPr>
          <p:cNvPr id="3" name="Picture 2" descr="training_score_promo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17" y="835742"/>
            <a:ext cx="6577781" cy="34904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4E63CA-429A-B96A-CD2D-380D1290C12A}"/>
              </a:ext>
            </a:extLst>
          </p:cNvPr>
          <p:cNvSpPr txBox="1"/>
          <p:nvPr/>
        </p:nvSpPr>
        <p:spPr>
          <a:xfrm>
            <a:off x="852948" y="4450719"/>
            <a:ext cx="83525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Insight</a:t>
            </a:r>
          </a:p>
          <a:p>
            <a:pPr>
              <a:buNone/>
            </a:pPr>
            <a:r>
              <a:rPr lang="en-US" dirty="0"/>
              <a:t>“Most promoted employees score above 70 in training evaluations, clearly indicating that training performance is a major differentiator in promotion decisions.”</a:t>
            </a:r>
          </a:p>
          <a:p>
            <a:pPr>
              <a:buNone/>
            </a:pPr>
            <a:r>
              <a:rPr lang="en-US" b="1" dirty="0"/>
              <a:t>Business 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</a:t>
            </a:r>
            <a:r>
              <a:rPr lang="en-US" b="1" dirty="0"/>
              <a:t>70+ training score</a:t>
            </a:r>
            <a:r>
              <a:rPr lang="en-US" dirty="0"/>
              <a:t> as a promotion readiness benchmark.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targeted coaching for employees scoring between 60–70.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4246"/>
            <a:ext cx="7704667" cy="1125793"/>
          </a:xfrm>
        </p:spPr>
        <p:txBody>
          <a:bodyPr/>
          <a:lstStyle/>
          <a:p>
            <a:r>
              <a:rPr dirty="0"/>
              <a:t>Key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170039"/>
            <a:ext cx="8229600" cy="5154561"/>
          </a:xfrm>
        </p:spPr>
        <p:txBody>
          <a:bodyPr>
            <a:normAutofit fontScale="92500" lnSpcReduction="10000"/>
          </a:bodyPr>
          <a:lstStyle/>
          <a:p>
            <a:r>
              <a:rPr lang="en-IN" sz="2800" dirty="0"/>
              <a:t>“Out of 54,808 employees </a:t>
            </a:r>
            <a:r>
              <a:rPr lang="en-US" sz="2800" dirty="0"/>
              <a:t>only 8.5% were promoted, showing a highly selective process.</a:t>
            </a:r>
          </a:p>
          <a:p>
            <a:r>
              <a:rPr sz="2800" dirty="0"/>
              <a:t>Employees meeting KPI &gt;80% and having previous year rating ≥3 are significantly more likely to be promoted.</a:t>
            </a:r>
          </a:p>
          <a:p>
            <a:r>
              <a:rPr sz="2800" dirty="0"/>
              <a:t>Certain departments consistently outperform others in promotion rates, indicating skill alignment differences.</a:t>
            </a:r>
          </a:p>
          <a:p>
            <a:r>
              <a:rPr sz="2800" dirty="0"/>
              <a:t>Training score is a strong differentiator; promoted employees cluster at higher scores</a:t>
            </a:r>
            <a:r>
              <a:rPr dirty="0"/>
              <a:t>.</a:t>
            </a:r>
          </a:p>
          <a:p>
            <a:r>
              <a:rPr sz="2600" dirty="0"/>
              <a:t>Gender-wise promotion rates show minimal bias, suggesting a relatively fair evaluation process.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27903"/>
            <a:ext cx="7704667" cy="3332816"/>
          </a:xfrm>
        </p:spPr>
        <p:txBody>
          <a:bodyPr/>
          <a:lstStyle/>
          <a:p>
            <a:r>
              <a:rPr dirty="0"/>
              <a:t>Prioritize checkpoint-eligible employees for fast-track promotion</a:t>
            </a:r>
          </a:p>
          <a:p>
            <a:r>
              <a:rPr dirty="0"/>
              <a:t>Focus training investments on low-performing departments</a:t>
            </a:r>
          </a:p>
          <a:p>
            <a:r>
              <a:rPr dirty="0"/>
              <a:t>Monitor fairness metrics continuously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0346-F84C-AFFE-19E3-1E9FE3BD4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THANK YOU</a:t>
            </a:r>
            <a:endParaRPr lang="en-IN" sz="11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38262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</TotalTime>
  <Words>440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Wisp</vt:lpstr>
      <vt:lpstr>HR Analytics                                                                               -MOHD.SHAIFAN </vt:lpstr>
      <vt:lpstr>Business Objective</vt:lpstr>
      <vt:lpstr>DATA OVERVIEW</vt:lpstr>
      <vt:lpstr>Promotion Rate by Department</vt:lpstr>
      <vt:lpstr>Promotion Rate by Gender</vt:lpstr>
      <vt:lpstr>Impact of KPI Completion</vt:lpstr>
      <vt:lpstr>Training Score Distribution (Promoted)</vt:lpstr>
      <vt:lpstr>Key Insights &amp; Recommendations</vt:lpstr>
      <vt:lpstr>Actionable Next Steps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mohd arman</cp:lastModifiedBy>
  <cp:revision>3</cp:revision>
  <dcterms:created xsi:type="dcterms:W3CDTF">2013-01-27T09:14:16Z</dcterms:created>
  <dcterms:modified xsi:type="dcterms:W3CDTF">2026-03-03T10:49:00Z</dcterms:modified>
  <cp:category/>
</cp:coreProperties>
</file>